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76272"/>
            <a:ext cx="12191695" cy="3657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isma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1554480" cy="1554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0320" y="685800"/>
            <a:ext cx="86868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PRISMA PMO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E50914"/>
                </a:solidFill>
                <a:latin typeface="Arial"/>
              </a:rPr>
              <a:t>Plataforma Executiva de Gestão de Portfólio &amp; Projetos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000" b="0">
                <a:solidFill>
                  <a:srgbClr val="C8C8D0"/>
                </a:solidFill>
                <a:latin typeface="Arial"/>
              </a:rPr>
              <a:t>Uma plataforma corporativa completa para PMOs modernos: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000" b="0">
                <a:solidFill>
                  <a:srgbClr val="C8C8D0"/>
                </a:solidFill>
                <a:latin typeface="Arial"/>
              </a:rPr>
              <a:t>delivery, governança, analytics, inteligência artificial e CRM —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000" b="0">
                <a:solidFill>
                  <a:srgbClr val="C8C8D0"/>
                </a:solidFill>
                <a:latin typeface="Arial"/>
              </a:rPr>
              <a:t>tudo em um único ambiente, com design premium e pronto para escalar.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A0A0A8"/>
                </a:solidFill>
                <a:latin typeface="Arial"/>
              </a:rPr>
              <a:t>Apresentação Executiva &amp; Comercial</a:t>
            </a:r>
            <a:r>
              <a:rPr sz="1400" b="1">
                <a:solidFill>
                  <a:srgbClr val="E50914"/>
                </a:solidFill>
                <a:latin typeface="Arial"/>
              </a:rPr>
              <a:t>   •   White-label / Marca própria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8580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O que é o PRISMA PMO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C8C8D0"/>
                </a:solidFill>
                <a:latin typeface="Arial"/>
              </a:rPr>
              <a:t>Um cockpit único que conecta estratégia e execução. Do planejamento ao encerramento, o PRISMA centraliza projetos, orçamento, riscos, capacidade e demandas — com inteligência artificial que antecipa gargalos e apoia a tomada de decisão executiva.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108960"/>
            <a:ext cx="2606040" cy="2926080"/>
          </a:xfrm>
          <a:prstGeom prst="rect">
            <a:avLst/>
          </a:prstGeom>
          <a:solidFill>
            <a:srgbClr val="1C1C20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108960"/>
            <a:ext cx="260604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47472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Centralização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297680"/>
            <a:ext cx="2148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A0A0A8"/>
                </a:solidFill>
                <a:latin typeface="Arial"/>
              </a:rPr>
              <a:t>Portfólio inteiro em uma só fonte de verdade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39312" y="3108960"/>
            <a:ext cx="2606040" cy="2926080"/>
          </a:xfrm>
          <a:prstGeom prst="rect">
            <a:avLst/>
          </a:prstGeom>
          <a:solidFill>
            <a:srgbClr val="1C1C20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39312" y="3108960"/>
            <a:ext cx="260604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912" y="347472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Inteligência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2" y="4297680"/>
            <a:ext cx="2148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A0A0A8"/>
                </a:solidFill>
                <a:latin typeface="Arial"/>
              </a:rPr>
              <a:t>IA que prioriza, alerta e recomenda ações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5664" y="3108960"/>
            <a:ext cx="2606040" cy="2926080"/>
          </a:xfrm>
          <a:prstGeom prst="rect">
            <a:avLst/>
          </a:prstGeom>
          <a:solidFill>
            <a:srgbClr val="1C1C20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55664" y="3108960"/>
            <a:ext cx="260604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347472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Governança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4264" y="4297680"/>
            <a:ext cx="2148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A0A0A8"/>
                </a:solidFill>
                <a:latin typeface="Arial"/>
              </a:rPr>
              <a:t>Riscos, causas-raiz e lições aprendidas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72016" y="3108960"/>
            <a:ext cx="2606040" cy="2926080"/>
          </a:xfrm>
          <a:prstGeom prst="rect">
            <a:avLst/>
          </a:prstGeom>
          <a:solidFill>
            <a:srgbClr val="1C1C20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72016" y="3108960"/>
            <a:ext cx="260604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0616" y="347472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Visão Executiva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0616" y="4297680"/>
            <a:ext cx="2148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A0A0A8"/>
                </a:solidFill>
                <a:latin typeface="Arial"/>
              </a:rPr>
              <a:t>Dashboards e relatórios prontos para a diretoria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8580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O desafio dos PMOs hoje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82296" cy="9144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29968"/>
            <a:ext cx="3291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Dados fragmentados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029968"/>
            <a:ext cx="6583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A0A0A8"/>
                </a:solidFill>
                <a:latin typeface="Arial"/>
              </a:rPr>
              <a:t>Planilhas soltas, ferramentas desconectadas e retrabalho constante.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999232"/>
            <a:ext cx="10515600" cy="9144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999232"/>
            <a:ext cx="82296" cy="9144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08960"/>
            <a:ext cx="3291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Reporting 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6583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A0A0A8"/>
                </a:solidFill>
                <a:latin typeface="Arial"/>
              </a:rPr>
              <a:t>Horas para montar status reports que ficam desatualizados no dia seguinte.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78224"/>
            <a:ext cx="10515600" cy="9144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078224"/>
            <a:ext cx="82296" cy="9144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187952"/>
            <a:ext cx="3291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Riscos invisíveis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87952"/>
            <a:ext cx="6583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A0A0A8"/>
                </a:solidFill>
                <a:latin typeface="Arial"/>
              </a:rPr>
              <a:t>Gargalos e atrasos só aparecem quando já viraram crise.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157216"/>
            <a:ext cx="10515600" cy="9144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5157216"/>
            <a:ext cx="82296" cy="9144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266944"/>
            <a:ext cx="3291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Baixa previsibilidade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266944"/>
            <a:ext cx="6583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A0A0A8"/>
                </a:solidFill>
                <a:latin typeface="Arial"/>
              </a:rPr>
              <a:t>Dificuldade de enxergar capacidade, ROI e saúde real do portfólio.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8580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A solução: 6 módulos integrados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3383280" cy="1691640"/>
          </a:xfrm>
          <a:prstGeom prst="rect">
            <a:avLst/>
          </a:prstGeom>
          <a:solidFill>
            <a:srgbClr val="1C1C20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82296" cy="16916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21991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Dashboard Executivo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39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Visão 360° do portfólio em tempo real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965960"/>
            <a:ext cx="3383280" cy="1691640"/>
          </a:xfrm>
          <a:prstGeom prst="rect">
            <a:avLst/>
          </a:prstGeom>
          <a:solidFill>
            <a:srgbClr val="1C1C20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965960"/>
            <a:ext cx="82296" cy="16916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221991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39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Projetos, Timeline, Budget e Capacity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965960"/>
            <a:ext cx="3383280" cy="1691640"/>
          </a:xfrm>
          <a:prstGeom prst="rect">
            <a:avLst/>
          </a:prstGeom>
          <a:solidFill>
            <a:srgbClr val="1C1C20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965960"/>
            <a:ext cx="82296" cy="16916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221991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Analytics &amp;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834639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AI Copilot, Status Report e Regional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3383280" cy="1691640"/>
          </a:xfrm>
          <a:prstGeom prst="rect">
            <a:avLst/>
          </a:prstGeom>
          <a:solidFill>
            <a:srgbClr val="1C1C20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977639"/>
            <a:ext cx="82296" cy="16916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233672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Governança PMO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4632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Riscos, RCA, Lições e Playbook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977639"/>
            <a:ext cx="3383280" cy="1691640"/>
          </a:xfrm>
          <a:prstGeom prst="rect">
            <a:avLst/>
          </a:prstGeom>
          <a:solidFill>
            <a:srgbClr val="1C1C20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977639"/>
            <a:ext cx="82296" cy="16916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233672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CRM &amp; Demandas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84632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Pipeline Kanban com conversão em projeto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977639"/>
            <a:ext cx="3383280" cy="1691640"/>
          </a:xfrm>
          <a:prstGeom prst="rect">
            <a:avLst/>
          </a:prstGeom>
          <a:solidFill>
            <a:srgbClr val="1C1C20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977639"/>
            <a:ext cx="82296" cy="16916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233672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Administração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4632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Usuários, permissões e integrações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8580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Por que o PRISMA PMO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5212080" cy="1234440"/>
          </a:xfrm>
          <a:prstGeom prst="rect">
            <a:avLst/>
          </a:prstGeom>
          <a:solidFill>
            <a:srgbClr val="151517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82296" cy="12344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66544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IA Autônoma (Agentic)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23744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0A0A8"/>
                </a:solidFill>
                <a:latin typeface="Arial"/>
              </a:rPr>
              <a:t>Copiloto que monitora, alerta e sugere realocações automaticamente.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920240"/>
            <a:ext cx="5212080" cy="1234440"/>
          </a:xfrm>
          <a:prstGeom prst="rect">
            <a:avLst/>
          </a:prstGeom>
          <a:solidFill>
            <a:srgbClr val="151517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82296" cy="12344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66544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White-label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23744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0A0A8"/>
                </a:solidFill>
                <a:latin typeface="Arial"/>
              </a:rPr>
              <a:t>Marca própria, cores e domínio — pronto para revenda.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383280"/>
            <a:ext cx="5212080" cy="1234440"/>
          </a:xfrm>
          <a:prstGeom prst="rect">
            <a:avLst/>
          </a:prstGeom>
          <a:solidFill>
            <a:srgbClr val="151517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383280"/>
            <a:ext cx="82296" cy="12344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29584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Multilíngue PT / EN / 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86784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0A0A8"/>
                </a:solidFill>
                <a:latin typeface="Arial"/>
              </a:rPr>
              <a:t>Times globais no mesmo ambiente.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383280"/>
            <a:ext cx="5212080" cy="1234440"/>
          </a:xfrm>
          <a:prstGeom prst="rect">
            <a:avLst/>
          </a:prstGeom>
          <a:solidFill>
            <a:srgbClr val="151517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383280"/>
            <a:ext cx="82296" cy="12344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529584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Exportação PDF / PPT / 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986784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0A0A8"/>
                </a:solidFill>
                <a:latin typeface="Arial"/>
              </a:rPr>
              <a:t>Relatórios executivos com um clique.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846320"/>
            <a:ext cx="5212080" cy="1234440"/>
          </a:xfrm>
          <a:prstGeom prst="rect">
            <a:avLst/>
          </a:prstGeom>
          <a:solidFill>
            <a:srgbClr val="151517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846320"/>
            <a:ext cx="82296" cy="12344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992624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SSO Corporativo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49824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0A0A8"/>
                </a:solidFill>
                <a:latin typeface="Arial"/>
              </a:rPr>
              <a:t>Login sem fricção via sessão corporativa.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846320"/>
            <a:ext cx="5212080" cy="1234440"/>
          </a:xfrm>
          <a:prstGeom prst="rect">
            <a:avLst/>
          </a:prstGeom>
          <a:solidFill>
            <a:srgbClr val="151517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846320"/>
            <a:ext cx="82296" cy="12344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992624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Design Premium Dark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449824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0A0A8"/>
                </a:solidFill>
                <a:latin typeface="Arial"/>
              </a:rPr>
              <a:t>Experiência moderna, rápida e responsiva.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ACESSO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Login &amp; SSO Corporativo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C8C8D0"/>
                </a:solidFill>
                <a:latin typeface="Arial"/>
              </a:rPr>
              <a:t>Autenticação segura sem fricção para toda a organização.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Login SSO corporativo sem senha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2744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Acesso externo com e-mail e senha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5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Tokens JWT + cookies httpOnly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369885"/>
            <a:ext cx="7278624" cy="4118229"/>
          </a:xfrm>
          <a:prstGeom prst="rect">
            <a:avLst/>
          </a:prstGeom>
          <a:noFill/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0_logi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97317"/>
            <a:ext cx="7223760" cy="40633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A0A0A8"/>
                </a:solidFill>
                <a:latin typeface="Arial"/>
              </a:rPr>
              <a:t>PRISMA PMO</a:t>
            </a:r>
            <a:r>
              <a:rPr sz="1000" b="0">
                <a:solidFill>
                  <a:srgbClr val="66666C"/>
                </a:solidFill>
                <a:latin typeface="Arial"/>
              </a:rPr>
              <a:t>  —  tela real da plataforma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VISÃO EXECUTIVA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Dashboard Executivo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C8C8D0"/>
                </a:solidFill>
                <a:latin typeface="Arial"/>
              </a:rPr>
              <a:t>O portfólio inteiro em uma tela, atualizado em tempo real.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Saúde do portfólio e ROI global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2744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Evolução financeira e top projetos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5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Atividades recentes relevantes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369885"/>
            <a:ext cx="7278624" cy="4118229"/>
          </a:xfrm>
          <a:prstGeom prst="rect">
            <a:avLst/>
          </a:prstGeom>
          <a:noFill/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1_dashboa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97317"/>
            <a:ext cx="7223760" cy="40633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A0A0A8"/>
                </a:solidFill>
                <a:latin typeface="Arial"/>
              </a:rPr>
              <a:t>PRISMA PMO</a:t>
            </a:r>
            <a:r>
              <a:rPr sz="1000" b="0">
                <a:solidFill>
                  <a:srgbClr val="66666C"/>
                </a:solidFill>
                <a:latin typeface="Arial"/>
              </a:rPr>
              <a:t>  —  tela real da plataforma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Gestão de Projetos &amp; Portfólio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C8C8D0"/>
                </a:solidFill>
                <a:latin typeface="Arial"/>
              </a:rPr>
              <a:t>Do planejamento à entrega, com múltiplas visões.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Views Grid, Kanban, Tabela e Gantt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2744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Filtros por país, área, tipo e prioridade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5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Milestones, tarefas, budget e documentos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369885"/>
            <a:ext cx="7278624" cy="4118229"/>
          </a:xfrm>
          <a:prstGeom prst="rect">
            <a:avLst/>
          </a:prstGeom>
          <a:noFill/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2_project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97317"/>
            <a:ext cx="7223760" cy="40633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A0A0A8"/>
                </a:solidFill>
                <a:latin typeface="Arial"/>
              </a:rPr>
              <a:t>PRISMA PMO</a:t>
            </a:r>
            <a:r>
              <a:rPr sz="1000" b="0">
                <a:solidFill>
                  <a:srgbClr val="66666C"/>
                </a:solidFill>
                <a:latin typeface="Arial"/>
              </a:rPr>
              <a:t>  —  tela real da plataforma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Timeline &amp; Gantt Executivo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C8C8D0"/>
                </a:solidFill>
                <a:latin typeface="Arial"/>
              </a:rPr>
              <a:t>Roadmap anual elegante para apresentar à diretoria.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Trimestres Q1–Q4 em uma linha do tempo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2744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Key Milestones em destaque (losangos)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5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Exportação em PNG para slides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369885"/>
            <a:ext cx="7278624" cy="4118229"/>
          </a:xfrm>
          <a:prstGeom prst="rect">
            <a:avLst/>
          </a:prstGeom>
          <a:noFill/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_timelin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97317"/>
            <a:ext cx="7223760" cy="40633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A0A0A8"/>
                </a:solidFill>
                <a:latin typeface="Arial"/>
              </a:rPr>
              <a:t>PRISMA PMO</a:t>
            </a:r>
            <a:r>
              <a:rPr sz="1000" b="0">
                <a:solidFill>
                  <a:srgbClr val="66666C"/>
                </a:solidFill>
                <a:latin typeface="Arial"/>
              </a:rPr>
              <a:t>  —  tela real da plataforma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Orçamento &amp; Financeiro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C8C8D0"/>
                </a:solidFill>
                <a:latin typeface="Arial"/>
              </a:rPr>
              <a:t>Controle financeiro de ponta a ponta do portfólio.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Orçado vs. realizado por projeto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2744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Receita esperada vs. gerada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5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Relatórios financeiros exportáveis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369885"/>
            <a:ext cx="7278624" cy="4118229"/>
          </a:xfrm>
          <a:prstGeom prst="rect">
            <a:avLst/>
          </a:prstGeom>
          <a:noFill/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4_budge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97317"/>
            <a:ext cx="7223760" cy="40633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A0A0A8"/>
                </a:solidFill>
                <a:latin typeface="Arial"/>
              </a:rPr>
              <a:t>PRISMA PMO</a:t>
            </a:r>
            <a:r>
              <a:rPr sz="1000" b="0">
                <a:solidFill>
                  <a:srgbClr val="66666C"/>
                </a:solidFill>
                <a:latin typeface="Arial"/>
              </a:rPr>
              <a:t>  —  tela real da plataforma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Capacity Planning &amp; Heatmap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C8C8D0"/>
                </a:solidFill>
                <a:latin typeface="Arial"/>
              </a:rPr>
              <a:t>Previsão de carga e prevenção de burnout das equipes.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Capacidade calculada por pessoa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2744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Mapa de calor de alocação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5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Alertas de sobrecarga (&gt;100%)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369885"/>
            <a:ext cx="7278624" cy="4118229"/>
          </a:xfrm>
          <a:prstGeom prst="rect">
            <a:avLst/>
          </a:prstGeom>
          <a:noFill/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5_capacity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97317"/>
            <a:ext cx="7223760" cy="40633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A0A0A8"/>
                </a:solidFill>
                <a:latin typeface="Arial"/>
              </a:rPr>
              <a:t>PRISMA PMO</a:t>
            </a:r>
            <a:r>
              <a:rPr sz="1000" b="0">
                <a:solidFill>
                  <a:srgbClr val="66666C"/>
                </a:solidFill>
                <a:latin typeface="Arial"/>
              </a:rPr>
              <a:t>  —  tela real da plataforma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INTELIGÊNCIA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PMO AI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C8C8D0"/>
                </a:solidFill>
                <a:latin typeface="Arial"/>
              </a:rPr>
              <a:t>O cérebro autônomo que antecipa problemas e recomenda ações.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Priorização orientada por tendências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2744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Detecção de gargalos e riscos de atraso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5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Realocação de recursos em 1 clique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369885"/>
            <a:ext cx="7278624" cy="4118229"/>
          </a:xfrm>
          <a:prstGeom prst="rect">
            <a:avLst/>
          </a:prstGeom>
          <a:noFill/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6_ai_copilo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97317"/>
            <a:ext cx="7223760" cy="40633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A0A0A8"/>
                </a:solidFill>
                <a:latin typeface="Arial"/>
              </a:rPr>
              <a:t>PRISMA PMO</a:t>
            </a:r>
            <a:r>
              <a:rPr sz="1000" b="0">
                <a:solidFill>
                  <a:srgbClr val="66666C"/>
                </a:solidFill>
                <a:latin typeface="Arial"/>
              </a:rPr>
              <a:t>  —  tela real da plataforma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INTELIGÊNCIA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Status Report Executivo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C8C8D0"/>
                </a:solidFill>
                <a:latin typeface="Arial"/>
              </a:rPr>
              <a:t>Relatório de status vivo, gerado automaticamente.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Indicadores de saúde (cronograma, budget, escopo)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2744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Riscos críticos vinculados ao projeto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5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Exportação em PDF / PPT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369885"/>
            <a:ext cx="7278624" cy="4118229"/>
          </a:xfrm>
          <a:prstGeom prst="rect">
            <a:avLst/>
          </a:prstGeom>
          <a:noFill/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7_status_repor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97317"/>
            <a:ext cx="7223760" cy="40633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A0A0A8"/>
                </a:solidFill>
                <a:latin typeface="Arial"/>
              </a:rPr>
              <a:t>PRISMA PMO</a:t>
            </a:r>
            <a:r>
              <a:rPr sz="1000" b="0">
                <a:solidFill>
                  <a:srgbClr val="66666C"/>
                </a:solidFill>
                <a:latin typeface="Arial"/>
              </a:rPr>
              <a:t>  —  tela real da plataforma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Regional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C8C8D0"/>
                </a:solidFill>
                <a:latin typeface="Arial"/>
              </a:rPr>
              <a:t>Performance financeira comparada por país e mercado.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Receita, lucratividade e ROI por região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2744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Eficiência operacional por país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5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Comparativo entre mercados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369885"/>
            <a:ext cx="7278624" cy="4118229"/>
          </a:xfrm>
          <a:prstGeom prst="rect">
            <a:avLst/>
          </a:prstGeom>
          <a:noFill/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8_regiona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97317"/>
            <a:ext cx="7223760" cy="40633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A0A0A8"/>
                </a:solidFill>
                <a:latin typeface="Arial"/>
              </a:rPr>
              <a:t>PRISMA PMO</a:t>
            </a:r>
            <a:r>
              <a:rPr sz="1000" b="0">
                <a:solidFill>
                  <a:srgbClr val="66666C"/>
                </a:solidFill>
                <a:latin typeface="Arial"/>
              </a:rPr>
              <a:t>  —  tela real da plataforma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Innovation Radar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C8C8D0"/>
                </a:solidFill>
                <a:latin typeface="Arial"/>
              </a:rPr>
              <a:t>Mapa de tecnologias e oportunidades de inovação.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Quadrantes Adopt / Trial / Assess / Hold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2744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Oportunidades de alto impacto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5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Portfólio de inovação estruturado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369885"/>
            <a:ext cx="7278624" cy="4118229"/>
          </a:xfrm>
          <a:prstGeom prst="rect">
            <a:avLst/>
          </a:prstGeom>
          <a:noFill/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9_innovati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97317"/>
            <a:ext cx="7223760" cy="40633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A0A0A8"/>
                </a:solidFill>
                <a:latin typeface="Arial"/>
              </a:rPr>
              <a:t>PRISMA PMO</a:t>
            </a:r>
            <a:r>
              <a:rPr sz="1000" b="0">
                <a:solidFill>
                  <a:srgbClr val="66666C"/>
                </a:solidFill>
                <a:latin typeface="Arial"/>
              </a:rPr>
              <a:t>  —  tela real da plataforma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GOVERNANÇA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Risk Radar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C8C8D0"/>
                </a:solidFill>
                <a:latin typeface="Arial"/>
              </a:rPr>
              <a:t>Gestão de riscos conectada diretamente aos projetos.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Riscos vinculados a cada projeto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2744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Probabilidade x impacto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5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Planos de mitigação e monitoramento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369885"/>
            <a:ext cx="7278624" cy="4118229"/>
          </a:xfrm>
          <a:prstGeom prst="rect">
            <a:avLst/>
          </a:prstGeom>
          <a:noFill/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0_risk_rada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97317"/>
            <a:ext cx="7223760" cy="40633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A0A0A8"/>
                </a:solidFill>
                <a:latin typeface="Arial"/>
              </a:rPr>
              <a:t>PRISMA PMO</a:t>
            </a:r>
            <a:r>
              <a:rPr sz="1000" b="0">
                <a:solidFill>
                  <a:srgbClr val="66666C"/>
                </a:solidFill>
                <a:latin typeface="Arial"/>
              </a:rPr>
              <a:t>  —  tela real da plataforma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GOVERNANÇA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Root Cause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C8C8D0"/>
                </a:solidFill>
                <a:latin typeface="Arial"/>
              </a:rPr>
              <a:t>Investigação sistemática de incidentes e falhas.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Identificação de causas-raiz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2744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Ações corretivas rastreáveis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5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Impacto quantificado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369885"/>
            <a:ext cx="7278624" cy="4118229"/>
          </a:xfrm>
          <a:prstGeom prst="rect">
            <a:avLst/>
          </a:prstGeom>
          <a:noFill/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1_root_cau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97317"/>
            <a:ext cx="7223760" cy="40633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A0A0A8"/>
                </a:solidFill>
                <a:latin typeface="Arial"/>
              </a:rPr>
              <a:t>PRISMA PMO</a:t>
            </a:r>
            <a:r>
              <a:rPr sz="1000" b="0">
                <a:solidFill>
                  <a:srgbClr val="66666C"/>
                </a:solidFill>
                <a:latin typeface="Arial"/>
              </a:rPr>
              <a:t>  —  tela real da plataforma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GOVERNANÇA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Lessons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C8C8D0"/>
                </a:solidFill>
                <a:latin typeface="Arial"/>
              </a:rPr>
              <a:t>Base de conhecimento para melhoria contínua.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Aprendizados capturados por projeto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2744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Reutilização entre iniciativas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5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Cultura de melhoria contínua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369885"/>
            <a:ext cx="7278624" cy="4118229"/>
          </a:xfrm>
          <a:prstGeom prst="rect">
            <a:avLst/>
          </a:prstGeom>
          <a:noFill/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2_lesson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97317"/>
            <a:ext cx="7223760" cy="40633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A0A0A8"/>
                </a:solidFill>
                <a:latin typeface="Arial"/>
              </a:rPr>
              <a:t>PRISMA PMO</a:t>
            </a:r>
            <a:r>
              <a:rPr sz="1000" b="0">
                <a:solidFill>
                  <a:srgbClr val="66666C"/>
                </a:solidFill>
                <a:latin typeface="Arial"/>
              </a:rPr>
              <a:t>  —  tela real da plataforma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GOVERNANÇA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PMO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C8C8D0"/>
                </a:solidFill>
                <a:latin typeface="Arial"/>
              </a:rPr>
              <a:t>Framework de entrega padronizado da organização.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Metodologias ágeis + governança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2744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Templates e boas práticas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5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Onboarding acelerado de times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369885"/>
            <a:ext cx="7278624" cy="4118229"/>
          </a:xfrm>
          <a:prstGeom prst="rect">
            <a:avLst/>
          </a:prstGeom>
          <a:noFill/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3_playbook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97317"/>
            <a:ext cx="7223760" cy="40633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A0A0A8"/>
                </a:solidFill>
                <a:latin typeface="Arial"/>
              </a:rPr>
              <a:t>PRISMA PMO</a:t>
            </a:r>
            <a:r>
              <a:rPr sz="1000" b="0">
                <a:solidFill>
                  <a:srgbClr val="66666C"/>
                </a:solidFill>
                <a:latin typeface="Arial"/>
              </a:rPr>
              <a:t>  —  tela real da plataforma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COMERCIAL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CRM &amp; Demandas (Kanban)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C8C8D0"/>
                </a:solidFill>
                <a:latin typeface="Arial"/>
              </a:rPr>
              <a:t>Pipeline visual de leads e demandas do PMO.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Kanban com arrastar e soltar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2744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Etapas do funil configuráveis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5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Conversão automática em projeto (Closed Won)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369885"/>
            <a:ext cx="7278624" cy="4118229"/>
          </a:xfrm>
          <a:prstGeom prst="rect">
            <a:avLst/>
          </a:prstGeom>
          <a:noFill/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4_cr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97317"/>
            <a:ext cx="7223760" cy="40633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A0A0A8"/>
                </a:solidFill>
                <a:latin typeface="Arial"/>
              </a:rPr>
              <a:t>PRISMA PMO</a:t>
            </a:r>
            <a:r>
              <a:rPr sz="1000" b="0">
                <a:solidFill>
                  <a:srgbClr val="66666C"/>
                </a:solidFill>
                <a:latin typeface="Arial"/>
              </a:rPr>
              <a:t>  —  tela real da plataforma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ADMINISTRAÇÃO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Gestão de Usuários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C8C8D0"/>
                </a:solidFill>
                <a:latin typeface="Arial"/>
              </a:rPr>
              <a:t>Controle total de acessos e permissões.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CRUD de usuários e perfis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2744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Administradores de portal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5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Integração LDAP / Active Directory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369885"/>
            <a:ext cx="7278624" cy="4118229"/>
          </a:xfrm>
          <a:prstGeom prst="rect">
            <a:avLst/>
          </a:prstGeom>
          <a:noFill/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5_admi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97317"/>
            <a:ext cx="7223760" cy="40633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A0A0A8"/>
                </a:solidFill>
                <a:latin typeface="Arial"/>
              </a:rPr>
              <a:t>PRISMA PMO</a:t>
            </a:r>
            <a:r>
              <a:rPr sz="1000" b="0">
                <a:solidFill>
                  <a:srgbClr val="66666C"/>
                </a:solidFill>
                <a:latin typeface="Arial"/>
              </a:rPr>
              <a:t>  —  tela real da plataforma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PLATAFORMA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Guia &amp; Funcionalidades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C8C8D0"/>
                </a:solidFill>
                <a:latin typeface="Arial"/>
              </a:rPr>
              <a:t>Toda a plataforma documentada para o usuário.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40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Regras de negócio explicadas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2744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Recursos premium detalhados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9495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Onboarding self-service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369885"/>
            <a:ext cx="7278624" cy="4118229"/>
          </a:xfrm>
          <a:prstGeom prst="rect">
            <a:avLst/>
          </a:prstGeom>
          <a:noFill/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6_featur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97317"/>
            <a:ext cx="7223760" cy="40633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A0A0A8"/>
                </a:solidFill>
                <a:latin typeface="Arial"/>
              </a:rPr>
              <a:t>PRISMA PMO</a:t>
            </a:r>
            <a:r>
              <a:rPr sz="1000" b="0">
                <a:solidFill>
                  <a:srgbClr val="66666C"/>
                </a:solidFill>
                <a:latin typeface="Arial"/>
              </a:rPr>
              <a:t>  —  tela real da plataforma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8580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Benefícios &amp; impacto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606040" cy="2011680"/>
          </a:xfrm>
          <a:prstGeom prst="rect">
            <a:avLst/>
          </a:prstGeom>
          <a:solidFill>
            <a:srgbClr val="1C1C20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E50914"/>
                </a:solidFill>
                <a:latin typeface="Arial"/>
              </a:rPr>
              <a:t>+30%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previsibilidade de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9312" y="2011680"/>
            <a:ext cx="2606040" cy="2011680"/>
          </a:xfrm>
          <a:prstGeom prst="rect">
            <a:avLst/>
          </a:prstGeom>
          <a:solidFill>
            <a:srgbClr val="1C1C20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33172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E50914"/>
                </a:solidFill>
                <a:latin typeface="Arial"/>
              </a:rPr>
              <a:t>-25%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329184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tempo em reporting manual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55664" y="2011680"/>
            <a:ext cx="2606040" cy="2011680"/>
          </a:xfrm>
          <a:prstGeom prst="rect">
            <a:avLst/>
          </a:prstGeom>
          <a:solidFill>
            <a:srgbClr val="1C1C20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233172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E50914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329184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fonte única de verdade do portfólio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72016" y="2011680"/>
            <a:ext cx="2606040" cy="2011680"/>
          </a:xfrm>
          <a:prstGeom prst="rect">
            <a:avLst/>
          </a:prstGeom>
          <a:solidFill>
            <a:srgbClr val="1C1C20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6" y="233172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E50914"/>
                </a:solidFill>
                <a:latin typeface="Arial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54896" y="329184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A0A0A8"/>
                </a:solidFill>
                <a:latin typeface="Arial"/>
              </a:rPr>
              <a:t>decisões orientadas por 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Menos esforço operacional, mais foco em estratégia.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A0A0A8"/>
                </a:solidFill>
                <a:latin typeface="Arial"/>
              </a:rPr>
              <a:t>O PRISMA transforma dados dispersos em decisões executivas rápidas — reduzindo custos de coordenação e aumentando a taxa de sucesso dos projetos.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66666C"/>
                </a:solidFill>
                <a:latin typeface="Arial"/>
              </a:rPr>
              <a:t>* Estimativas ilustrativas — ajustáveis conforme o cliente.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8580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Segurança, SSO &amp; integrações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5212080" cy="1234440"/>
          </a:xfrm>
          <a:prstGeom prst="rect">
            <a:avLst/>
          </a:prstGeom>
          <a:solidFill>
            <a:srgbClr val="151517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82296" cy="12344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66544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SSO Corporativo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23744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A0A0A8"/>
                </a:solidFill>
                <a:latin typeface="Arial"/>
              </a:rPr>
              <a:t>Login via sessão corporativa, sem senhas expostas.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920240"/>
            <a:ext cx="5212080" cy="1234440"/>
          </a:xfrm>
          <a:prstGeom prst="rect">
            <a:avLst/>
          </a:prstGeom>
          <a:solidFill>
            <a:srgbClr val="151517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82296" cy="12344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66544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JWT + Cookies httpOnly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23744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A0A0A8"/>
                </a:solidFill>
                <a:latin typeface="Arial"/>
              </a:rPr>
              <a:t>Sessões seguras com tokens de acesso e refresh.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383280"/>
            <a:ext cx="5212080" cy="1234440"/>
          </a:xfrm>
          <a:prstGeom prst="rect">
            <a:avLst/>
          </a:prstGeom>
          <a:solidFill>
            <a:srgbClr val="151517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383280"/>
            <a:ext cx="82296" cy="12344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29584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LDAP / Active Directory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86784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A0A0A8"/>
                </a:solidFill>
                <a:latin typeface="Arial"/>
              </a:rPr>
              <a:t>Sincronização de usuários e alocação de recursos.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383280"/>
            <a:ext cx="5212080" cy="1234440"/>
          </a:xfrm>
          <a:prstGeom prst="rect">
            <a:avLst/>
          </a:prstGeom>
          <a:solidFill>
            <a:srgbClr val="151517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383280"/>
            <a:ext cx="82296" cy="12344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529584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Notificações &amp; E-mail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986784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A0A0A8"/>
                </a:solidFill>
                <a:latin typeface="Arial"/>
              </a:rPr>
              <a:t>Alertas automáticos de alocação e riscos.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846320"/>
            <a:ext cx="5212080" cy="1234440"/>
          </a:xfrm>
          <a:prstGeom prst="rect">
            <a:avLst/>
          </a:prstGeom>
          <a:solidFill>
            <a:srgbClr val="151517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846320"/>
            <a:ext cx="82296" cy="12344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992624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Importação Planner / Monday / 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49824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A0A0A8"/>
                </a:solidFill>
                <a:latin typeface="Arial"/>
              </a:rPr>
              <a:t>Migração de cronogramas e demandas.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846320"/>
            <a:ext cx="5212080" cy="1234440"/>
          </a:xfrm>
          <a:prstGeom prst="rect">
            <a:avLst/>
          </a:prstGeom>
          <a:solidFill>
            <a:srgbClr val="151517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846320"/>
            <a:ext cx="82296" cy="12344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992624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Exportação PDF / PPT / PNG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449824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A0A0A8"/>
                </a:solidFill>
                <a:latin typeface="Arial"/>
              </a:rPr>
              <a:t>Relatórios e apresentações executivas.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85800"/>
            <a:ext cx="45720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Planos &amp; preços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A0A0A8"/>
                </a:solidFill>
                <a:latin typeface="Arial"/>
              </a:rPr>
              <a:t>Escolha o plano que acompanha o crescimento da sua operação.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429000" cy="4251960"/>
          </a:xfrm>
          <a:prstGeom prst="rect">
            <a:avLst/>
          </a:prstGeom>
          <a:solidFill>
            <a:srgbClr val="1C1C20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  <a:latin typeface="Arial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63239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R$ 1.900</a:t>
            </a:r>
            <a:r>
              <a:rPr sz="1300" b="0">
                <a:solidFill>
                  <a:srgbClr val="A0A0A8"/>
                </a:solidFill>
                <a:latin typeface="Arial"/>
              </a:rPr>
              <a:t>/mês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•  </a:t>
            </a:r>
            <a:r>
              <a:rPr sz="1250" b="0">
                <a:solidFill>
                  <a:srgbClr val="C8C8D0"/>
                </a:solidFill>
                <a:latin typeface="Arial"/>
              </a:rPr>
              <a:t>Até 10 usuários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•  </a:t>
            </a:r>
            <a:r>
              <a:rPr sz="1250" b="0">
                <a:solidFill>
                  <a:srgbClr val="C8C8D0"/>
                </a:solidFill>
                <a:latin typeface="Arial"/>
              </a:rPr>
              <a:t>Dashboard Executivo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•  </a:t>
            </a:r>
            <a:r>
              <a:rPr sz="1250" b="0">
                <a:solidFill>
                  <a:srgbClr val="C8C8D0"/>
                </a:solidFill>
                <a:latin typeface="Arial"/>
              </a:rPr>
              <a:t>Projetos, Timeline &amp;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•  </a:t>
            </a:r>
            <a:r>
              <a:rPr sz="1250" b="0">
                <a:solidFill>
                  <a:srgbClr val="C8C8D0"/>
                </a:solidFill>
                <a:latin typeface="Arial"/>
              </a:rPr>
              <a:t>Suporte por e-mail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194560"/>
            <a:ext cx="3429000" cy="4251960"/>
          </a:xfrm>
          <a:prstGeom prst="rect">
            <a:avLst/>
          </a:prstGeom>
          <a:solidFill>
            <a:srgbClr val="220A0C"/>
          </a:solidFill>
          <a:ln w="1905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194560"/>
            <a:ext cx="3429000" cy="41148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212848"/>
            <a:ext cx="3429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MAIS POPULAR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92608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PROFESSIONAL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47472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R$ 4.900</a:t>
            </a:r>
            <a:r>
              <a:rPr sz="1300" b="0">
                <a:solidFill>
                  <a:srgbClr val="A0A0A8"/>
                </a:solidFill>
                <a:latin typeface="Arial"/>
              </a:rPr>
              <a:t>/mês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34340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•  </a:t>
            </a:r>
            <a:r>
              <a:rPr sz="1250" b="0">
                <a:solidFill>
                  <a:srgbClr val="C8C8D0"/>
                </a:solidFill>
                <a:latin typeface="Arial"/>
              </a:rPr>
              <a:t>Até 50 usuários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70916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•  </a:t>
            </a:r>
            <a:r>
              <a:rPr sz="1250" b="0">
                <a:solidFill>
                  <a:srgbClr val="C8C8D0"/>
                </a:solidFill>
                <a:latin typeface="Arial"/>
              </a:rPr>
              <a:t>Tudo do Starter 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07492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•  </a:t>
            </a:r>
            <a:r>
              <a:rPr sz="1250" b="0">
                <a:solidFill>
                  <a:srgbClr val="C8C8D0"/>
                </a:solidFill>
                <a:latin typeface="Arial"/>
              </a:rPr>
              <a:t>Analytics, AI Copilot &amp; CRM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44068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•  </a:t>
            </a:r>
            <a:r>
              <a:rPr sz="1250" b="0">
                <a:solidFill>
                  <a:srgbClr val="C8C8D0"/>
                </a:solidFill>
                <a:latin typeface="Arial"/>
              </a:rPr>
              <a:t>Risk Radar &amp; Status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580644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•  </a:t>
            </a:r>
            <a:r>
              <a:rPr sz="1250" b="0">
                <a:solidFill>
                  <a:srgbClr val="C8C8D0"/>
                </a:solidFill>
                <a:latin typeface="Arial"/>
              </a:rPr>
              <a:t>Suporte prioritário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194560"/>
            <a:ext cx="3429000" cy="4251960"/>
          </a:xfrm>
          <a:prstGeom prst="rect">
            <a:avLst/>
          </a:prstGeom>
          <a:solidFill>
            <a:srgbClr val="1C1C20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251460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  <a:latin typeface="Arial"/>
              </a:rPr>
              <a:t>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063239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Sob consulta</a:t>
            </a:r>
            <a:r>
              <a:rPr sz="1300" b="0">
                <a:solidFill>
                  <a:srgbClr val="A0A0A8"/>
                </a:solidFill>
                <a:latin typeface="Arial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93192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•  </a:t>
            </a:r>
            <a:r>
              <a:rPr sz="1250" b="0">
                <a:solidFill>
                  <a:srgbClr val="C8C8D0"/>
                </a:solidFill>
                <a:latin typeface="Arial"/>
              </a:rPr>
              <a:t>Usuários ilimitados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29768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•  </a:t>
            </a:r>
            <a:r>
              <a:rPr sz="1250" b="0">
                <a:solidFill>
                  <a:srgbClr val="C8C8D0"/>
                </a:solidFill>
                <a:latin typeface="Arial"/>
              </a:rPr>
              <a:t>SSO &amp; White-label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66344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•  </a:t>
            </a:r>
            <a:r>
              <a:rPr sz="1250" b="0">
                <a:solidFill>
                  <a:srgbClr val="C8C8D0"/>
                </a:solidFill>
                <a:latin typeface="Arial"/>
              </a:rPr>
              <a:t>Integrações dedicadas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02920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•  </a:t>
            </a:r>
            <a:r>
              <a:rPr sz="1250" b="0">
                <a:solidFill>
                  <a:srgbClr val="C8C8D0"/>
                </a:solidFill>
                <a:latin typeface="Arial"/>
              </a:rPr>
              <a:t>Onboarding e SLA dedicados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39496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•  </a:t>
            </a:r>
            <a:r>
              <a:rPr sz="1250" b="0">
                <a:solidFill>
                  <a:srgbClr val="C8C8D0"/>
                </a:solidFill>
                <a:latin typeface="Arial"/>
              </a:rPr>
              <a:t>Gerente de sucesso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5379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66666C"/>
                </a:solidFill>
                <a:latin typeface="Arial"/>
              </a:rPr>
              <a:t>* Valores ilustrativos para referência comercial — personalizáveis por contrato.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isma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82296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926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Vamos transformar a gestão do seu portfólio?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C8C8D0"/>
                </a:solidFill>
                <a:latin typeface="Arial"/>
              </a:rPr>
              <a:t>Agende uma demonstração personalizada do PRISMA PMO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C8C8D0"/>
                </a:solidFill>
                <a:latin typeface="Arial"/>
              </a:rPr>
              <a:t>e veja a plataforma funcionando com os dados da sua empresa.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7448" y="5486400"/>
            <a:ext cx="2743200" cy="685800"/>
          </a:xfrm>
          <a:prstGeom prst="round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550468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Solicitar demonstração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